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846320" cy="420624"/>
          </a:xfrm>
          <a:prstGeom prst="roundRect">
            <a:avLst>
              <a:gd name="adj" fmla="val 50000"/>
            </a:avLst>
          </a:prstGeom>
          <a:ln w="12700">
            <a:solidFill>
              <a:srgbClr val="2C34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DM-UY 2193</a:t>
            </a:r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Intro to Web Development   ·   Week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CSS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&amp; selectors — how we tell the browser what things should look like.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188720" cy="54864"/>
          </a:xfrm>
          <a:prstGeom prst="rect">
            <a:avLst/>
          </a:prstGeom>
          <a:solidFill>
            <a:srgbClr val="6FD6C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LEFT 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content.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is presentation.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class you semantically marked up a recipe — headings, lists, sections. It's all correct. None of it looks like anything yet.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SAYS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heading. This is a list. This is important."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SAYS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spacing, size, position — and today, how we target the thing we want to style.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34290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mix them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tempted to fake layout with empty tags, that's CSS's job, not HTML's.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ONLY SENTENCE THAT MATTERS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style rule has three parts.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#555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35000"/>
              </a:lnSpc>
              <a:buNone/>
            </a:pPr>
            <a:r>
              <a:rPr lang="en-US" sz="3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291840" cy="0"/>
          </a:xfrm>
          <a:prstGeom prst="line">
            <a:avLst/>
          </a:prstGeom>
          <a:noFill/>
          <a:ln w="31750">
            <a:solidFill>
              <a:srgbClr val="F2B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element(s) — p means every paragraph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3246120"/>
            <a:ext cx="3291840" cy="0"/>
          </a:xfrm>
          <a:prstGeom prst="line">
            <a:avLst/>
          </a:prstGeom>
          <a:noFill/>
          <a:ln w="31750">
            <a:solidFill>
              <a:srgbClr val="6FD6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visual trait — color, width, margin…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0" y="3246120"/>
            <a:ext cx="3291840" cy="0"/>
          </a:xfrm>
          <a:prstGeom prst="line">
            <a:avLst/>
          </a:prstGeom>
          <a:noFill/>
          <a:ln w="31750">
            <a:solidFill>
              <a:srgbClr val="EC7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setting for that property, ended with a semicolon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SCALES BY REPEATING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stylesheet is just a list of rules.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035040" cy="3291840"/>
          </a:xfrm>
          <a:prstGeom prst="roundRect">
            <a:avLst>
              <a:gd name="adj" fmla="val 25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60350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60350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5341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5341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5341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'Helvetica Neue', sans-serif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#555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2rem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200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Every stylesheet you'll ever read is this pattern, over and over.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CSS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live?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places you can write it — we're about to see why one of them wins.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— on the tag itself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8638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78638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78638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5341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5341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5341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style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9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"color: white; background: orange;"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one element, one time. Fast to write, painful to maintain — you'd repeat it on every tag.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a &lt;style&gt; tag in the head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8638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78638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78638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5341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5341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5341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#ff0000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every matching element on this one page. Better — but a second HTML page won't see it.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3 — WHAT WE'LL ACTUALLY 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its own .css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8638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78638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13432"/>
            <a:ext cx="78638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15341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15341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15341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5603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9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"stylesheet"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9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"css/styles.css"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linked from as many HTML pages as you want. This is the real-world default — it's what's already sitting in your StarterFiles folder.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more than one of these applies to the same element, there are exact rules for which one wins — we'll get precise about that later in the semester, once styling itself feels automatic.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target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style?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— the left side of every rule. Five kinds, five jobs.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F2B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F2B1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selector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every instance of a tag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every element of that type on the page. No dot, no hash — just the tag name.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a broad, page-wide default — like setting the font on every paragraph.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6FD6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6FD6C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selector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paintbrush — reusable, on any tag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class="…" to as many elements as you want, on any tag type, then style the class once.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you'll reach for most often.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.thumbnail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class="thumbnail"&gt;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57300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EC7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EC7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selector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nametag — one element, once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#. Only one element on the page should ever wear a given id.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two elements the same id and you'll get bugs that don't announce themselves. Reach for class instead unless you truly mean “the one.”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#main-nav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auto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929384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A99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A996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universal selector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element, no exceptions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*. Matches everything on the page at once.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mostly see this at the very top of a stylesheet, clearing out the browser's default spacing before anything else is styled.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99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69264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F2B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F2B1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 selectors that share a rule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repeating the same declaration block three times, list the selectors together.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selector type can be grouped — tags, classes, ids, mixed.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2B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Georgia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25396" cy="329184"/>
          </a:xfrm>
          <a:prstGeom prst="roundRect">
            <a:avLst>
              <a:gd name="adj" fmla="val 50000"/>
            </a:avLst>
          </a:prstGeom>
          <a:solidFill>
            <a:srgbClr val="1F2634"/>
          </a:solidFill>
          <a:ln w="15875">
            <a:solidFill>
              <a:srgbClr val="6FD6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676656"/>
            <a:ext cx="82296" cy="82296"/>
          </a:xfrm>
          <a:prstGeom prst="ellipse">
            <a:avLst/>
          </a:prstGeom>
          <a:solidFill>
            <a:srgbClr val="6FD6C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1751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descendant selector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element, inside another element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selectors separated by a space. Matches the second only when it's nested inside the first.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"Style links, but only the ones inside the nav."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  <a:effectLst>
            <a:outerShdw sx="100000" sy="100000" kx="0" ky="0" algn="bl" rotWithShape="0" blurRad="228600" dist="127000" dir="5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143000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1B2230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444752"/>
            <a:ext cx="5120640" cy="82296"/>
          </a:xfrm>
          <a:prstGeom prst="rect">
            <a:avLst/>
          </a:prstGeom>
          <a:solidFill>
            <a:srgbClr val="1B2230"/>
          </a:solidFill>
          <a:ln/>
        </p:spPr>
      </p:sp>
      <p:sp>
        <p:nvSpPr>
          <p:cNvPr id="11" name="Shape 9"/>
          <p:cNvSpPr/>
          <p:nvPr/>
        </p:nvSpPr>
        <p:spPr>
          <a:xfrm>
            <a:off x="6638544" y="1284732"/>
            <a:ext cx="100584" cy="100584"/>
          </a:xfrm>
          <a:prstGeom prst="ellipse">
            <a:avLst/>
          </a:prstGeom>
          <a:solidFill>
            <a:srgbClr val="E869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284732"/>
            <a:ext cx="100584" cy="100584"/>
          </a:xfrm>
          <a:prstGeom prst="ellipse">
            <a:avLst/>
          </a:prstGeom>
          <a:solidFill>
            <a:srgbClr val="E8C3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1284732"/>
            <a:ext cx="100584" cy="100584"/>
          </a:xfrm>
          <a:prstGeom prst="ellipse">
            <a:avLst/>
          </a:prstGeom>
          <a:solidFill>
            <a:srgbClr val="71C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6916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C7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selectors, one glance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29768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63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instance of that tag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.thumbnail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tag carrying that class, as many times as you like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#main-nav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element on the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element, no exceptions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h1, h2, h3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listed selectors, sharing one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EF0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Descendant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0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nav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099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second, only when nested in the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EE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5B6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write the left side. One pattern, repeated, is the entire language.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F2634"/>
          </a:solidFill>
          <a:ln w="12700">
            <a:solidFill>
              <a:srgbClr val="2C34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432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F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8803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E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Box Model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09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rules, applied to layout — margin, border, padding, and your first real page structure.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(Cascade &amp; specificity — exactly which rule wins when several apply — comes later in the semester, once applying styles feels routine.)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2026-09-17T13:45:46Z</dcterms:created>
  <dcterms:modified xsi:type="dcterms:W3CDTF">2026-09-17T13:45:46Z</dcterms:modified>
</cp:coreProperties>
</file>