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halves today: finish GitHub setup, then this. By the end of class everyone has a web page of their own recipe.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back gently on 'is HTML coding?' -- it is markup. That distinction matters when we get to JavaScript, which really is programming.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will ask why it's ugly. That question IS next week's lesson -- welcome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slash on the board. Forgetting it is the single most common beginner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wrong example is worth typing live so they see the editor highlight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it by hand once. Show the ! + Tab shortcut only AFTER they have typed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actual tab on the projector. Several have never noticed where that text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accessibility point is not a footnote. A blind user navigates by headings. Say it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five-Enters demo live. It surprises everyone and prevents a lot of later confusion.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vs inline is the most useful idea today for everything that comes later. Draw it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one instructions should be BEFORE typing it. Reasoning from meaning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it live: misspell the filename, save, watch the alt text appear. Two lessons in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a link inside the paragraph live -- reinforces inline vs block from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while they work. It is the whole vocabulary for the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pushes before they leave. Walk the room and look at github.com on their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02  ·  INTRO TO WEB DEVELOPMENT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 HTML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every web page is written in — and the only one that is truly required.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28116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281160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34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HyperText Markup Language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108813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— text with links in it. That is what makes the web a web, and not a pile of separate documents.</a:t>
            </a:r>
            <a:endParaRPr lang="en-US" sz="1700" dirty="0"/>
          </a:p>
          <a:p>
            <a:pPr marL="342900" indent="-34290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— we wrap our content in tags that describe what each piece IS. A heading, a paragraph, a list.</a:t>
            </a:r>
            <a:endParaRPr lang="en-US" sz="1700" dirty="0"/>
          </a:p>
          <a:p>
            <a:pPr marL="342900" indent="-34290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— it has rules and a vocabulary, but it is not a programming language. There is no logic here, no maths, no decisions.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74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describes. It does not compute.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is structure. CSS is looks.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5212080" cy="2834640"/>
          </a:xfrm>
          <a:prstGeom prst="roundRect">
            <a:avLst>
              <a:gd name="adj" fmla="val 1935"/>
            </a:avLst>
          </a:prstGeom>
          <a:solidFill>
            <a:srgbClr val="FDF1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4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276856"/>
            <a:ext cx="45720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content IS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paragraphs, lists, images, links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no page without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435608"/>
            <a:ext cx="5212080" cy="2834640"/>
          </a:xfrm>
          <a:prstGeom prst="roundRect">
            <a:avLst>
              <a:gd name="adj" fmla="val 1935"/>
            </a:avLst>
          </a:prstGeom>
          <a:solidFill>
            <a:srgbClr val="F1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276856"/>
            <a:ext cx="45720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Colour, spacing, fonts, layout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and it is next week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5902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these two jobs separate is one of the oldest and best ideas on the web. Today we write only HTML — so your page will look plain, and that is correct.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928116" cy="301752"/>
          </a:xfrm>
          <a:prstGeom prst="roundRect">
            <a:avLst>
              <a:gd name="adj" fmla="val 18182"/>
            </a:avLst>
          </a:prstGeom>
          <a:solidFill>
            <a:srgbClr val="E34F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9281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&lt;tag&gt;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tag?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56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are keywords wrapped in angle brackets. They usually come in pairs — an opening tag and a closing tag — and everything between them is the content that tag describes.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70632"/>
            <a:ext cx="10881360" cy="914400"/>
          </a:xfrm>
          <a:prstGeom prst="roundRect">
            <a:avLst>
              <a:gd name="adj" fmla="val 4000"/>
            </a:avLst>
          </a:prstGeom>
          <a:solidFill>
            <a:srgbClr val="2B31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953512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&lt;p&gt;The best pancakes I have ever made.&lt;/p&gt;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3867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tag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3867912"/>
            <a:ext cx="533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42888" y="3867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tag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4622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tag has a slash before the name. Think of tags like brackets: whenever you open one, you close it.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3095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are also called elements. You will hear both words.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nest — and order matters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35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put tags inside other tags. When you do, close them in the reverse order you opened them — innermost first.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50008"/>
            <a:ext cx="10881360" cy="1363370"/>
          </a:xfrm>
          <a:prstGeom prst="roundRect">
            <a:avLst>
              <a:gd name="adj" fmla="val 2683"/>
            </a:avLst>
          </a:prstGeom>
          <a:solidFill>
            <a:srgbClr val="2B31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532888"/>
            <a:ext cx="10479024" cy="99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a paragraph &lt;em&gt;with emphasis&lt;/em&gt; inside it.&lt;/p&gt;</a:t>
            </a:r>
            <a:endParaRPr lang="en-US" sz="15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&lt;em&gt;wrong.&lt;/p&gt;&lt;/em&gt;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41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nesting by indenting — each level in gets one more step of indentation. The browser does not care, but you will, and so will anyone reading your code.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64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will indent for you if you let it. Turn on format-on-save.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page has the same skeleton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6400800" cy="3150840"/>
          </a:xfrm>
          <a:prstGeom prst="roundRect">
            <a:avLst>
              <a:gd name="adj" fmla="val 1161"/>
            </a:avLst>
          </a:prstGeom>
          <a:solidFill>
            <a:srgbClr val="2B31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" y="1618488"/>
            <a:ext cx="5998464" cy="27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&lt;title&gt;My Recipe&lt;/title&gt;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&lt;h1&gt;Buttermilk Pancakes&lt;/h1&gt;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406640" y="15087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DOCTYPE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7922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browser this is modern HTML. Always first.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2423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7066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entire page.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3200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34838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ABOUT the page. Nothing here is visible on the page itself.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4160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44439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people actually see.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75004" cy="301752"/>
          </a:xfrm>
          <a:prstGeom prst="roundRect">
            <a:avLst>
              <a:gd name="adj" fmla="val 18182"/>
            </a:avLst>
          </a:prstGeom>
          <a:solidFill>
            <a:srgbClr val="E34F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11750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title tag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56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head, so it never appears on the page. It does two jobs — and they are both important.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0" cy="822960"/>
          </a:xfrm>
          <a:prstGeom prst="roundRect">
            <a:avLst>
              <a:gd name="adj" fmla="val 4444"/>
            </a:avLst>
          </a:prstGeom>
          <a:solidFill>
            <a:srgbClr val="2B31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907792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&lt;title&gt;Buttermilk Pancakes&lt;/title&gt;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76472"/>
            <a:ext cx="6400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names the browser tab.</a:t>
            </a:r>
            <a:endParaRPr lang="en-US" sz="1500" dirty="0"/>
          </a:p>
          <a:p>
            <a:pPr marL="342900" indent="-342900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blue clickable line in Google search results.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06640" y="2724912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1F3F6"/>
          </a:solidFill>
          <a:ln/>
        </p:spPr>
      </p:sp>
      <p:sp>
        <p:nvSpPr>
          <p:cNvPr id="10" name="Shape 8"/>
          <p:cNvSpPr/>
          <p:nvPr/>
        </p:nvSpPr>
        <p:spPr>
          <a:xfrm>
            <a:off x="7607808" y="2935224"/>
            <a:ext cx="23317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99248" y="29352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Buttermilk Panc…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607808" y="34564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tab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737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the most valuable line of text on a web page — and it is invisible.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421892" cy="301752"/>
          </a:xfrm>
          <a:prstGeom prst="roundRect">
            <a:avLst>
              <a:gd name="adj" fmla="val 18182"/>
            </a:avLst>
          </a:prstGeom>
          <a:solidFill>
            <a:srgbClr val="E34F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14218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&lt;h1&gt;–&lt;h6&gt;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Headings are about importance, not size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56232"/>
            <a:ext cx="6035040" cy="1613733"/>
          </a:xfrm>
          <a:prstGeom prst="roundRect">
            <a:avLst>
              <a:gd name="adj" fmla="val 2267"/>
            </a:avLst>
          </a:prstGeom>
          <a:solidFill>
            <a:srgbClr val="2B31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39112"/>
            <a:ext cx="5632704" cy="124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&lt;h1&gt;Buttermilk Pancakes&lt;/h1&gt;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&lt;h2&gt;Ingredients&lt;/h2&gt;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&lt;h2&gt;Instructions&lt;/h2&gt;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&lt;h3&gt;A note on the batter&lt;/h3&gt;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1856232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paper outline: title, sections, subsections.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&lt;h1&gt; per page. It is the title of this page's content.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skip levels because you like a size — that is CSS's job.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navigate a page by jumping heading to heading.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use them to work out what your page is about.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6451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heading level is a decision about meaning.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85800" cy="301752"/>
          </a:xfrm>
          <a:prstGeom prst="roundRect">
            <a:avLst>
              <a:gd name="adj" fmla="val 18182"/>
            </a:avLst>
          </a:prstGeom>
          <a:solidFill>
            <a:srgbClr val="E34F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Paragraphs hold most of your words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56232"/>
            <a:ext cx="10881360" cy="1036930"/>
          </a:xfrm>
          <a:prstGeom prst="roundRect">
            <a:avLst>
              <a:gd name="adj" fmla="val 3527"/>
            </a:avLst>
          </a:prstGeom>
          <a:solidFill>
            <a:srgbClr val="2B31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39112"/>
            <a:ext cx="10479024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&lt;p&gt;Light, fluffy pancakes that take about</a:t>
            </a:r>
            <a:endParaRPr lang="en-US" sz="15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twenty minutes start to finish.&lt;/p&gt;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278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text in the body will render — but the browser has no idea what it is. It cannot be styled or announced properly. Mark up all of your text.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142232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DF1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3251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ignores your whitespace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6451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Enter five times inside a paragraph and the browser collapses it all to a single space. Line breaks come from tags, not from your keyboard.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915668" cy="301752"/>
          </a:xfrm>
          <a:prstGeom prst="roundRect">
            <a:avLst>
              <a:gd name="adj" fmla="val 18182"/>
            </a:avLst>
          </a:prstGeom>
          <a:solidFill>
            <a:srgbClr val="E34F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19156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 &lt;strong&gt;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Emphasis goes inside a paragraph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56232"/>
            <a:ext cx="10881360" cy="1036930"/>
          </a:xfrm>
          <a:prstGeom prst="roundRect">
            <a:avLst>
              <a:gd name="adj" fmla="val 3527"/>
            </a:avLst>
          </a:prstGeom>
          <a:solidFill>
            <a:srgbClr val="2B31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39112"/>
            <a:ext cx="10479024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&lt;p&gt;Takes about &lt;strong&gt;twenty minutes&lt;/strong&gt;.</a:t>
            </a:r>
            <a:endParaRPr lang="en-US" sz="150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 trick is &lt;em&gt;not&lt;/em&gt; overmixing.&lt;/p&gt;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73552"/>
            <a:ext cx="5212080" cy="1737360"/>
          </a:xfrm>
          <a:prstGeom prst="roundRect">
            <a:avLst>
              <a:gd name="adj" fmla="val 3158"/>
            </a:avLst>
          </a:prstGeom>
          <a:solidFill>
            <a:srgbClr val="F1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4838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9136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vertically, takes the full width.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paragraphs, lists.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3273552"/>
            <a:ext cx="5212080" cy="1737360"/>
          </a:xfrm>
          <a:prstGeom prst="roundRect">
            <a:avLst>
              <a:gd name="adj" fmla="val 3158"/>
            </a:avLst>
          </a:prstGeom>
          <a:solidFill>
            <a:srgbClr val="FDF1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34838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4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9136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inside a line without breaking it.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em, strong, links.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937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&lt;i&gt; and &lt;b&gt;? Same look — but em and strong carry meaning a screen reader can act 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2039112" cy="301752"/>
          </a:xfrm>
          <a:prstGeom prst="roundRect">
            <a:avLst>
              <a:gd name="adj" fmla="val 18182"/>
            </a:avLst>
          </a:prstGeom>
          <a:solidFill>
            <a:srgbClr val="E34F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2039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 &lt;ol&gt; &lt;li&gt;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list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56232"/>
            <a:ext cx="5120640" cy="1575694"/>
          </a:xfrm>
          <a:prstGeom prst="roundRect">
            <a:avLst>
              <a:gd name="adj" fmla="val 2321"/>
            </a:avLst>
          </a:prstGeom>
          <a:solidFill>
            <a:srgbClr val="2B31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39112"/>
            <a:ext cx="4718304" cy="1209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350" dirty="0"/>
          </a:p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&lt;li&gt;3/4 cup melted butter&lt;/li&gt;</a:t>
            </a:r>
            <a:endParaRPr lang="en-US" sz="1350" dirty="0"/>
          </a:p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&lt;li&gt;2 tbsp whole milk&lt;/li&gt;</a:t>
            </a:r>
            <a:endParaRPr lang="en-US" sz="1350" dirty="0"/>
          </a:p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856232"/>
            <a:ext cx="5120640" cy="1575694"/>
          </a:xfrm>
          <a:prstGeom prst="roundRect">
            <a:avLst>
              <a:gd name="adj" fmla="val 2321"/>
            </a:avLst>
          </a:prstGeom>
          <a:solidFill>
            <a:srgbClr val="2B31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1968" y="2039112"/>
            <a:ext cx="4718304" cy="1209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350" dirty="0"/>
          </a:p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&lt;li&gt;Melt the butter.&lt;/li&gt;</a:t>
            </a:r>
            <a:endParaRPr lang="en-US" sz="1350" dirty="0"/>
          </a:p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&lt;li&gt;Beat in the egg.&lt;/li&gt;</a:t>
            </a:r>
            <a:endParaRPr lang="en-US" sz="1350" dirty="0"/>
          </a:p>
          <a:p>
            <a:pPr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478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— bullets. Order does not matter.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5478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— numbers. Order absolutely matters.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42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hold &lt;li&gt; — list item — and each one is a single bullet or number. So ingredients are a ul, and instructions are an ol. Choosing between them is a decision about your content, not about how it looks.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148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generates the numbers. Never type “1.” yourself.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928116" cy="301752"/>
          </a:xfrm>
          <a:prstGeom prst="roundRect">
            <a:avLst>
              <a:gd name="adj" fmla="val 18182"/>
            </a:avLst>
          </a:prstGeom>
          <a:solidFill>
            <a:srgbClr val="E34F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9281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Images, and your first attribute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56232"/>
            <a:ext cx="10881360" cy="868680"/>
          </a:xfrm>
          <a:prstGeom prst="roundRect">
            <a:avLst>
              <a:gd name="adj" fmla="val 4211"/>
            </a:avLst>
          </a:prstGeom>
          <a:solidFill>
            <a:srgbClr val="2B31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39112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src="img/pancakes.jpg" alt="A stack of pancakes" /&gt;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50848" y="28895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56432"/>
            <a:ext cx="108813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— where the image file lives, relative to this HTML file.</a:t>
            </a:r>
            <a:endParaRPr lang="en-US" sz="1500" dirty="0"/>
          </a:p>
          <a:p>
            <a:pPr marL="342900" indent="-342900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— what a screen reader announces, and what shows if the image fails. Not optional. Describe the image; do not write “image of”.</a:t>
            </a:r>
            <a:endParaRPr lang="en-US" sz="1500" dirty="0"/>
          </a:p>
          <a:p>
            <a:pPr marL="342900" indent="-342900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Self-closing: there is no &lt;/img&gt;, because there is no content to wrap. It closes itself with /&gt;.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239512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DF1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53949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spaces in filenames — and capitalisation matters once your site is online, even if your Mac forgives it.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85800" cy="301752"/>
          </a:xfrm>
          <a:prstGeom prst="roundRect">
            <a:avLst>
              <a:gd name="adj" fmla="val 18182"/>
            </a:avLst>
          </a:prstGeom>
          <a:solidFill>
            <a:srgbClr val="E34F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are what make it a web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56232"/>
            <a:ext cx="6949440" cy="868680"/>
          </a:xfrm>
          <a:prstGeom prst="roundRect">
            <a:avLst>
              <a:gd name="adj" fmla="val 4211"/>
            </a:avLst>
          </a:prstGeom>
          <a:solidFill>
            <a:srgbClr val="2B31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39112"/>
            <a:ext cx="6547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href="https://www.nyu.edu"&gt;NYU&lt;/a&gt;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90672"/>
            <a:ext cx="6949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the anchor tag.</a:t>
            </a:r>
            <a:endParaRPr lang="en-US" sz="1500" dirty="0"/>
          </a:p>
          <a:p>
            <a:pPr marL="342900" indent="-342900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 holds the destination.</a:t>
            </a:r>
            <a:endParaRPr lang="en-US" sz="1500" dirty="0"/>
          </a:p>
          <a:p>
            <a:pPr marL="342900" indent="-342900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between the tags is what people see and click.</a:t>
            </a:r>
            <a:endParaRPr lang="en-US" sz="1500" dirty="0"/>
          </a:p>
          <a:p>
            <a:pPr marL="342900" indent="-342900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inline — drop one into a paragraph and the line does not break.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0" y="1856232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1F24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0" y="21762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34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</a:t>
            </a:r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816352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with links in it. This one tag is the reason the web is a web and not a pile of documents.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8737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link text that says where it goes. “Click here” tells a screen-reader user nothing.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need for today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8961120" cy="603504"/>
          </a:xfrm>
          <a:prstGeom prst="roundRect">
            <a:avLst>
              <a:gd name="adj" fmla="val 6061"/>
            </a:avLst>
          </a:prstGeom>
          <a:solidFill>
            <a:srgbClr val="F7F8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43560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&lt;h1&gt;–&lt;h6&gt;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43560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by importance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67128"/>
            <a:ext cx="896112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16712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6712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paragraph of text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8961120" cy="603504"/>
          </a:xfrm>
          <a:prstGeom prst="roundRect">
            <a:avLst>
              <a:gd name="adj" fmla="val 6061"/>
            </a:avLst>
          </a:prstGeom>
          <a:solidFill>
            <a:srgbClr val="F7F8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89864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 &lt;em&gt;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89864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and italic, inside a paragraph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30168"/>
            <a:ext cx="896112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63016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 &lt;ol&gt; &lt;li&gt;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63016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— bulleted and numbered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361688"/>
            <a:ext cx="8961120" cy="603504"/>
          </a:xfrm>
          <a:prstGeom prst="roundRect">
            <a:avLst>
              <a:gd name="adj" fmla="val 6061"/>
            </a:avLst>
          </a:prstGeom>
          <a:solidFill>
            <a:srgbClr val="F7F8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36168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/&gt;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36168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image. Self-closing, needs src and alt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093208"/>
            <a:ext cx="896112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09320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509320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link. Needs href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up your recipe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5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recipe.md you wrote for homework.</a:t>
            </a:r>
            <a:endParaRPr lang="en-US" sz="1600" dirty="0"/>
          </a:p>
          <a:p>
            <a:pPr marL="342900" indent="-342900">
              <a:lnSpc>
                <a:spcPts val="25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Week02 folder in your repo, and an index.html inside it.</a:t>
            </a:r>
            <a:endParaRPr lang="en-US" sz="1600" dirty="0"/>
          </a:p>
          <a:p>
            <a:pPr marL="342900" indent="-342900">
              <a:lnSpc>
                <a:spcPts val="25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skeleton, then mark up your recipe using today's tags.</a:t>
            </a:r>
            <a:endParaRPr lang="en-US" sz="1600" dirty="0"/>
          </a:p>
          <a:p>
            <a:pPr marL="342900" indent="-342900">
              <a:lnSpc>
                <a:spcPts val="25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photo of the dish with a real alt description.</a:t>
            </a:r>
            <a:endParaRPr lang="en-US" sz="1600" dirty="0"/>
          </a:p>
          <a:p>
            <a:pPr marL="342900" indent="-342900">
              <a:lnSpc>
                <a:spcPts val="25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 before you leave.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2148840"/>
          </a:xfrm>
          <a:prstGeom prst="roundRect">
            <a:avLst>
              <a:gd name="adj" fmla="val 2553"/>
            </a:avLst>
          </a:prstGeom>
          <a:solidFill>
            <a:srgbClr val="2B31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2999232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error. Check you are in the right folder. Then TROUBLESHOOTING.md in the class repo.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CSS today. It is meant to look plain.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</dc:title>
  <dc:subject>PptxGenJS Presentation</dc:subject>
  <dc:creator>Prof. Katie Adee</dc:creator>
  <cp:lastModifiedBy>Prof. Katie Adee</cp:lastModifiedBy>
  <cp:revision>1</cp:revision>
  <dcterms:created xsi:type="dcterms:W3CDTF">2026-09-04T13:11:27Z</dcterms:created>
  <dcterms:modified xsi:type="dcterms:W3CDTF">2026-09-04T13:11:27Z</dcterms:modified>
</cp:coreProperties>
</file>